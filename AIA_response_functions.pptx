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658"/>
  </p:normalViewPr>
  <p:slideViewPr>
    <p:cSldViewPr snapToGrid="0">
      <p:cViewPr varScale="1">
        <p:scale>
          <a:sx n="102" d="100"/>
          <a:sy n="102" d="100"/>
        </p:scale>
        <p:origin x="192" y="4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341EA3-9A50-3733-2232-727C214265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9BD7FDC-554C-CA5D-96A8-426ED82489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B6A230-387B-5BFF-3B06-2E38D4EE13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3A7E9-2842-EB4A-A538-B6D599C0B0B0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011492-861B-F08B-F41A-52A5EED84C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94BF06-6B9C-F452-12AA-C1223E632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49CF8B-2C3F-E24A-92FA-A3231B708D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74714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D1BCA3-3A14-E75D-5010-1DC48B3B70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B957BE-57EB-4DBA-A24F-9F53D75734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E807D4-63F4-5E1C-2362-563987C2FE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3A7E9-2842-EB4A-A538-B6D599C0B0B0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0FBE8A-8DA7-3CBD-6145-830A7AA0A1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45BF72-3876-37EF-73D1-2900655A0B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49CF8B-2C3F-E24A-92FA-A3231B708D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47036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F68A11-027F-6D45-435B-D14D00AEFC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9115C2-EC11-8899-6392-96695B40C3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32F02A-FDC1-4CB5-BC90-2F533D8A63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3A7E9-2842-EB4A-A538-B6D599C0B0B0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04C9D2-B782-3C6C-C432-3CA71D13A0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213903-1695-536E-CDFB-406DAC2B9A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49CF8B-2C3F-E24A-92FA-A3231B708D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39469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340BF4-1540-FE94-EF33-575703DE8C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63FF9F-C2EF-1185-5406-853C4F7D97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7D2659-FD61-D15B-CD53-20DFE98FFC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D7954B7-FE55-FCE0-885D-6C7C8B21D0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3A7E9-2842-EB4A-A538-B6D599C0B0B0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ADB771-8DDA-A1DC-8DE5-3E060599AA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736784-A6DD-0FF9-27AA-1A2C6C0E6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49CF8B-2C3F-E24A-92FA-A3231B708D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14056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48EBCA-2F09-AE1B-DE05-305C8398F7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635947-B059-A08B-69AC-743B54AB25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FF8B4E4-CFEF-B2A5-EB6A-514473D358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CF7B0D6-7335-2D7C-D447-CBB6F009A35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153559E-5470-6339-9D4C-2BC91682EAE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0E425A5-29B4-33A3-6A41-988ACDF06B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3A7E9-2842-EB4A-A538-B6D599C0B0B0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B71E3AB-4F26-6AB7-E85C-F0860ECEEE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F330989-274F-E5AB-6A43-2E0D39B59B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49CF8B-2C3F-E24A-92FA-A3231B708D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67581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905D8D-7829-EF91-BC38-4C92D1000D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28BD23-B60F-DE24-55DD-35750545C6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3A7E9-2842-EB4A-A538-B6D599C0B0B0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B5E834-0096-2D14-0E32-7FFB9289D5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FE93B0-A23B-875D-7118-FA31C8190D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49CF8B-2C3F-E24A-92FA-A3231B708D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93355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CE90F43-BE23-E5FB-387B-980A7FC1EC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3A7E9-2842-EB4A-A538-B6D599C0B0B0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7A4FAA-F43E-6AA6-5A90-E038A946CF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60B52A-3E0B-9A3F-ADEA-97B8130D0D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49CF8B-2C3F-E24A-92FA-A3231B708D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10041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429B69-E3DD-8C3F-BC7B-7ACF54B23A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6F50F-B53E-AE39-B8AA-91BD69B1DB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B76CE7-AFDD-C8D5-1298-2B06366338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E913D3-8580-C777-CB2D-91A6D617CB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3A7E9-2842-EB4A-A538-B6D599C0B0B0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E81A97-1374-6EC7-C461-D0622C90FB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398DFF-D4AD-92C8-A966-BA6B948030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49CF8B-2C3F-E24A-92FA-A3231B708D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22930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9A1F8-0FDC-82FD-F120-79EA706267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7BF8683-5330-9D02-36D0-170D3B79A02E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9F1959-A035-54FB-CE5D-088363114E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CE71A5-FC48-EE9D-C2C9-0EC0BB5D65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3A7E9-2842-EB4A-A538-B6D599C0B0B0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38E152-4D45-6859-B7E0-030DF4A06E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951BB5-2AF1-42DC-FF1E-F7D8AD5727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49CF8B-2C3F-E24A-92FA-A3231B708D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98686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0A5433-782A-197B-7854-06F88BC003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F2D7BD6-D0E7-AC7E-DAA3-3F5760B16A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970A28-88C6-E287-6D0E-9C9DA892C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3A7E9-2842-EB4A-A538-B6D599C0B0B0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8D27CE-E1E8-9DB8-6864-0183E62FD1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5E32CD-8B0A-9FB6-54FD-919D021F0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49CF8B-2C3F-E24A-92FA-A3231B708D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83445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D0D134E-023F-FE6C-CEFB-8693307003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9817B78-D504-3A41-A152-ADCBE564F7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CEA169-2DB7-DACE-BED1-B4D66AED76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3A7E9-2842-EB4A-A538-B6D599C0B0B0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5085DD-937F-8EC5-CF58-1B3BF99E75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DB47BD-63BF-6587-C26F-3F1A03B962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49CF8B-2C3F-E24A-92FA-A3231B708D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89016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5AF0D5D-4B8D-B8B5-1598-BC77B02AA6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378249-7147-03D1-1C6B-547F86EA9A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FDFF37-D77D-789F-BF7A-0797696B641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F93A7E9-2842-EB4A-A538-B6D599C0B0B0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18B7A7-2FC2-8D41-29A6-8C793674FF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48A34D-400D-B9F8-5A5A-102B400913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C49CF8B-2C3F-E24A-92FA-A3231B708D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66889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B0ADC69-7504-5C48-5FD7-718DDD3B8732}"/>
              </a:ext>
            </a:extLst>
          </p:cNvPr>
          <p:cNvSpPr txBox="1"/>
          <p:nvPr/>
        </p:nvSpPr>
        <p:spPr>
          <a:xfrm>
            <a:off x="965183" y="382772"/>
            <a:ext cx="105063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AIA response functions with different abundance datasets.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F26E1C5-9AF8-7513-85BA-4EE300932E8D}"/>
              </a:ext>
            </a:extLst>
          </p:cNvPr>
          <p:cNvSpPr txBox="1"/>
          <p:nvPr/>
        </p:nvSpPr>
        <p:spPr>
          <a:xfrm>
            <a:off x="3355987" y="1935125"/>
            <a:ext cx="6304546" cy="32795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lnSpc>
                <a:spcPct val="150000"/>
              </a:lnSpc>
              <a:buFont typeface="Wingdings" pitchFamily="2" charset="2"/>
              <a:buChar char="q"/>
            </a:pPr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Chianti version: 11.02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q"/>
            </a:pPr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AIA effective area version: 10 (applied /</a:t>
            </a:r>
            <a:r>
              <a:rPr lang="en-US" sz="2000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evenorm</a:t>
            </a:r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, /dn)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q"/>
            </a:pPr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Abundance database: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q"/>
            </a:pPr>
            <a:r>
              <a:rPr lang="en-US" sz="2000" dirty="0"/>
              <a:t>sun_photospheric_2021_Asplund.abund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q"/>
            </a:pPr>
            <a:r>
              <a:rPr lang="en-US" sz="2000" dirty="0"/>
              <a:t>sun_coronal_2021_chianti.abund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q"/>
            </a:pPr>
            <a:r>
              <a:rPr lang="en-US" sz="2000" dirty="0"/>
              <a:t>sun_coronal_1992_feldman_ext.abund 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q"/>
            </a:pPr>
            <a:endParaRPr lang="en-US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6A0AC5-764E-63EE-569F-0C50C47EF829}"/>
              </a:ext>
            </a:extLst>
          </p:cNvPr>
          <p:cNvSpPr txBox="1"/>
          <p:nvPr/>
        </p:nvSpPr>
        <p:spPr>
          <a:xfrm>
            <a:off x="911299" y="4928448"/>
            <a:ext cx="10369402" cy="8833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Also compare chianti responses with SSW calculated response: </a:t>
            </a:r>
            <a:r>
              <a:rPr lang="en-US" dirty="0" err="1"/>
              <a:t>tresp</a:t>
            </a:r>
            <a:r>
              <a:rPr lang="en-US" dirty="0"/>
              <a:t>=</a:t>
            </a:r>
            <a:r>
              <a:rPr lang="en-US" dirty="0" err="1"/>
              <a:t>aia_get_response</a:t>
            </a:r>
            <a:r>
              <a:rPr lang="en-US" dirty="0"/>
              <a:t>(/temperature,/dn, /</a:t>
            </a:r>
            <a:r>
              <a:rPr lang="en-US" dirty="0" err="1"/>
              <a:t>evenorm</a:t>
            </a:r>
            <a:r>
              <a:rPr lang="en-US" dirty="0"/>
              <a:t>, </a:t>
            </a:r>
            <a:r>
              <a:rPr lang="en-US" dirty="0" err="1"/>
              <a:t>timedepend_date</a:t>
            </a:r>
            <a:r>
              <a:rPr lang="en-US" dirty="0"/>
              <a:t>=‘1-May-2010’, /</a:t>
            </a:r>
            <a:r>
              <a:rPr lang="en-US" dirty="0" err="1"/>
              <a:t>chiantifix</a:t>
            </a:r>
            <a:r>
              <a:rPr lang="en-US" dirty="0"/>
              <a:t>)]: </a:t>
            </a:r>
          </a:p>
        </p:txBody>
      </p:sp>
    </p:spTree>
    <p:extLst>
      <p:ext uri="{BB962C8B-B14F-4D97-AF65-F5344CB8AC3E}">
        <p14:creationId xmlns:p14="http://schemas.microsoft.com/office/powerpoint/2010/main" val="36463514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9" name="Rectangle 38">
            <a:extLst>
              <a:ext uri="{FF2B5EF4-FFF2-40B4-BE49-F238E27FC236}">
                <a16:creationId xmlns:a16="http://schemas.microsoft.com/office/drawing/2014/main" id="{0288C6B4-AFC3-407F-A595-EFFD38D4CC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41" name="Freeform: Shape 40">
            <a:extLst>
              <a:ext uri="{FF2B5EF4-FFF2-40B4-BE49-F238E27FC236}">
                <a16:creationId xmlns:a16="http://schemas.microsoft.com/office/drawing/2014/main" id="{CF236821-17FE-429B-8D2C-08E13A64EA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4455673" cy="6858000"/>
          </a:xfrm>
          <a:custGeom>
            <a:avLst/>
            <a:gdLst>
              <a:gd name="connsiteX0" fmla="*/ 0 w 4455673"/>
              <a:gd name="connsiteY0" fmla="*/ 0 h 6858000"/>
              <a:gd name="connsiteX1" fmla="*/ 3242695 w 4455673"/>
              <a:gd name="connsiteY1" fmla="*/ 0 h 6858000"/>
              <a:gd name="connsiteX2" fmla="*/ 3305678 w 4455673"/>
              <a:gd name="connsiteY2" fmla="*/ 69271 h 6858000"/>
              <a:gd name="connsiteX3" fmla="*/ 4455673 w 4455673"/>
              <a:gd name="connsiteY3" fmla="*/ 3429000 h 6858000"/>
              <a:gd name="connsiteX4" fmla="*/ 3305678 w 4455673"/>
              <a:gd name="connsiteY4" fmla="*/ 6788730 h 6858000"/>
              <a:gd name="connsiteX5" fmla="*/ 3242695 w 4455673"/>
              <a:gd name="connsiteY5" fmla="*/ 6858000 h 6858000"/>
              <a:gd name="connsiteX6" fmla="*/ 0 w 4455673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55673" h="6858000">
                <a:moveTo>
                  <a:pt x="0" y="0"/>
                </a:moveTo>
                <a:lnTo>
                  <a:pt x="3242695" y="0"/>
                </a:lnTo>
                <a:lnTo>
                  <a:pt x="3305678" y="69271"/>
                </a:lnTo>
                <a:cubicBezTo>
                  <a:pt x="4016204" y="929100"/>
                  <a:pt x="4455673" y="2116944"/>
                  <a:pt x="4455673" y="3429000"/>
                </a:cubicBezTo>
                <a:cubicBezTo>
                  <a:pt x="4455673" y="4741056"/>
                  <a:pt x="4016204" y="5928900"/>
                  <a:pt x="3305678" y="6788730"/>
                </a:cubicBezTo>
                <a:lnTo>
                  <a:pt x="3242695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43" name="Freeform: Shape 42">
            <a:extLst>
              <a:ext uri="{FF2B5EF4-FFF2-40B4-BE49-F238E27FC236}">
                <a16:creationId xmlns:a16="http://schemas.microsoft.com/office/drawing/2014/main" id="{C0BDBCD2-E081-43AB-9119-C55465E59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446529" cy="6858000"/>
          </a:xfrm>
          <a:custGeom>
            <a:avLst/>
            <a:gdLst>
              <a:gd name="connsiteX0" fmla="*/ 0 w 4446529"/>
              <a:gd name="connsiteY0" fmla="*/ 0 h 6858000"/>
              <a:gd name="connsiteX1" fmla="*/ 3233551 w 4446529"/>
              <a:gd name="connsiteY1" fmla="*/ 0 h 6858000"/>
              <a:gd name="connsiteX2" fmla="*/ 3296534 w 4446529"/>
              <a:gd name="connsiteY2" fmla="*/ 69271 h 6858000"/>
              <a:gd name="connsiteX3" fmla="*/ 4446529 w 4446529"/>
              <a:gd name="connsiteY3" fmla="*/ 3429000 h 6858000"/>
              <a:gd name="connsiteX4" fmla="*/ 3296534 w 4446529"/>
              <a:gd name="connsiteY4" fmla="*/ 6788730 h 6858000"/>
              <a:gd name="connsiteX5" fmla="*/ 3233551 w 4446529"/>
              <a:gd name="connsiteY5" fmla="*/ 6858000 h 6858000"/>
              <a:gd name="connsiteX6" fmla="*/ 0 w 444652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46529" h="6858000">
                <a:moveTo>
                  <a:pt x="0" y="0"/>
                </a:moveTo>
                <a:lnTo>
                  <a:pt x="3233551" y="0"/>
                </a:lnTo>
                <a:lnTo>
                  <a:pt x="3296534" y="69271"/>
                </a:lnTo>
                <a:cubicBezTo>
                  <a:pt x="4007060" y="929100"/>
                  <a:pt x="4446529" y="2116944"/>
                  <a:pt x="4446529" y="3429000"/>
                </a:cubicBezTo>
                <a:cubicBezTo>
                  <a:pt x="4446529" y="4741056"/>
                  <a:pt x="4007060" y="5928900"/>
                  <a:pt x="3296534" y="6788730"/>
                </a:cubicBezTo>
                <a:lnTo>
                  <a:pt x="3233551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B4A58D-2852-EFBE-5B4D-087FE198D906}"/>
              </a:ext>
            </a:extLst>
          </p:cNvPr>
          <p:cNvSpPr txBox="1"/>
          <p:nvPr/>
        </p:nvSpPr>
        <p:spPr>
          <a:xfrm>
            <a:off x="371094" y="1161288"/>
            <a:ext cx="3438144" cy="12390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28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Comparison: AIA 94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8E79BE4-34FE-485A-98A5-92CE8F7C47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426546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7A5F0580-5EE9-419F-96EE-B6529EF6E7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5893" y="2443480"/>
            <a:ext cx="338328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BD3680-8A84-145E-967A-AC67416A0CE6}"/>
              </a:ext>
            </a:extLst>
          </p:cNvPr>
          <p:cNvSpPr txBox="1"/>
          <p:nvPr/>
        </p:nvSpPr>
        <p:spPr>
          <a:xfrm>
            <a:off x="371094" y="2718054"/>
            <a:ext cx="3438906" cy="320725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/>
              <a:t>Solid line: SSW calculated response, which used: </a:t>
            </a:r>
          </a:p>
          <a:p>
            <a:pPr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/>
              <a:t>Chianti v-9</a:t>
            </a:r>
          </a:p>
          <a:p>
            <a:pPr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/>
              <a:t>Feldman coronal abundance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73A4AAE-BF62-1E5E-D626-8493E060FB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1184" y="1004675"/>
            <a:ext cx="6922008" cy="494923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B51519B-DA03-D430-C683-78276503646A}"/>
              </a:ext>
            </a:extLst>
          </p:cNvPr>
          <p:cNvSpPr txBox="1"/>
          <p:nvPr/>
        </p:nvSpPr>
        <p:spPr>
          <a:xfrm>
            <a:off x="368808" y="5910094"/>
            <a:ext cx="1152193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This passband show significant deviation in between 6.0&lt; </a:t>
            </a:r>
            <a:r>
              <a:rPr lang="en-US" dirty="0" err="1"/>
              <a:t>logT</a:t>
            </a:r>
            <a:r>
              <a:rPr lang="en-US" dirty="0"/>
              <a:t> &lt; 6.5 .</a:t>
            </a:r>
          </a:p>
          <a:p>
            <a:r>
              <a:rPr lang="en-US" b="1" dirty="0"/>
              <a:t>- Change of atomic data in new Chianti version or the effect of ‘</a:t>
            </a:r>
            <a:r>
              <a:rPr lang="en-US" b="1" dirty="0" err="1"/>
              <a:t>chiantifix</a:t>
            </a:r>
            <a:r>
              <a:rPr lang="en-US" b="1" dirty="0"/>
              <a:t>’ analytical factor in </a:t>
            </a:r>
            <a:r>
              <a:rPr lang="en-US" b="1" dirty="0" err="1"/>
              <a:t>ssw</a:t>
            </a:r>
            <a:r>
              <a:rPr lang="en-US" b="1" dirty="0"/>
              <a:t> calculation?</a:t>
            </a:r>
          </a:p>
        </p:txBody>
      </p:sp>
    </p:spTree>
    <p:extLst>
      <p:ext uri="{BB962C8B-B14F-4D97-AF65-F5344CB8AC3E}">
        <p14:creationId xmlns:p14="http://schemas.microsoft.com/office/powerpoint/2010/main" val="36629753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64E363-7D9D-152E-2A6A-855D17ADAE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1" name="Rectangle 50">
            <a:extLst>
              <a:ext uri="{FF2B5EF4-FFF2-40B4-BE49-F238E27FC236}">
                <a16:creationId xmlns:a16="http://schemas.microsoft.com/office/drawing/2014/main" id="{0288C6B4-AFC3-407F-A595-EFFD38D4CC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53" name="Freeform: Shape 52">
            <a:extLst>
              <a:ext uri="{FF2B5EF4-FFF2-40B4-BE49-F238E27FC236}">
                <a16:creationId xmlns:a16="http://schemas.microsoft.com/office/drawing/2014/main" id="{CF236821-17FE-429B-8D2C-08E13A64EA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4455673" cy="6858000"/>
          </a:xfrm>
          <a:custGeom>
            <a:avLst/>
            <a:gdLst>
              <a:gd name="connsiteX0" fmla="*/ 0 w 4455673"/>
              <a:gd name="connsiteY0" fmla="*/ 0 h 6858000"/>
              <a:gd name="connsiteX1" fmla="*/ 3242695 w 4455673"/>
              <a:gd name="connsiteY1" fmla="*/ 0 h 6858000"/>
              <a:gd name="connsiteX2" fmla="*/ 3305678 w 4455673"/>
              <a:gd name="connsiteY2" fmla="*/ 69271 h 6858000"/>
              <a:gd name="connsiteX3" fmla="*/ 4455673 w 4455673"/>
              <a:gd name="connsiteY3" fmla="*/ 3429000 h 6858000"/>
              <a:gd name="connsiteX4" fmla="*/ 3305678 w 4455673"/>
              <a:gd name="connsiteY4" fmla="*/ 6788730 h 6858000"/>
              <a:gd name="connsiteX5" fmla="*/ 3242695 w 4455673"/>
              <a:gd name="connsiteY5" fmla="*/ 6858000 h 6858000"/>
              <a:gd name="connsiteX6" fmla="*/ 0 w 4455673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55673" h="6858000">
                <a:moveTo>
                  <a:pt x="0" y="0"/>
                </a:moveTo>
                <a:lnTo>
                  <a:pt x="3242695" y="0"/>
                </a:lnTo>
                <a:lnTo>
                  <a:pt x="3305678" y="69271"/>
                </a:lnTo>
                <a:cubicBezTo>
                  <a:pt x="4016204" y="929100"/>
                  <a:pt x="4455673" y="2116944"/>
                  <a:pt x="4455673" y="3429000"/>
                </a:cubicBezTo>
                <a:cubicBezTo>
                  <a:pt x="4455673" y="4741056"/>
                  <a:pt x="4016204" y="5928900"/>
                  <a:pt x="3305678" y="6788730"/>
                </a:cubicBezTo>
                <a:lnTo>
                  <a:pt x="3242695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55" name="Freeform: Shape 54">
            <a:extLst>
              <a:ext uri="{FF2B5EF4-FFF2-40B4-BE49-F238E27FC236}">
                <a16:creationId xmlns:a16="http://schemas.microsoft.com/office/drawing/2014/main" id="{C0BDBCD2-E081-43AB-9119-C55465E59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446529" cy="6858000"/>
          </a:xfrm>
          <a:custGeom>
            <a:avLst/>
            <a:gdLst>
              <a:gd name="connsiteX0" fmla="*/ 0 w 4446529"/>
              <a:gd name="connsiteY0" fmla="*/ 0 h 6858000"/>
              <a:gd name="connsiteX1" fmla="*/ 3233551 w 4446529"/>
              <a:gd name="connsiteY1" fmla="*/ 0 h 6858000"/>
              <a:gd name="connsiteX2" fmla="*/ 3296534 w 4446529"/>
              <a:gd name="connsiteY2" fmla="*/ 69271 h 6858000"/>
              <a:gd name="connsiteX3" fmla="*/ 4446529 w 4446529"/>
              <a:gd name="connsiteY3" fmla="*/ 3429000 h 6858000"/>
              <a:gd name="connsiteX4" fmla="*/ 3296534 w 4446529"/>
              <a:gd name="connsiteY4" fmla="*/ 6788730 h 6858000"/>
              <a:gd name="connsiteX5" fmla="*/ 3233551 w 4446529"/>
              <a:gd name="connsiteY5" fmla="*/ 6858000 h 6858000"/>
              <a:gd name="connsiteX6" fmla="*/ 0 w 444652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46529" h="6858000">
                <a:moveTo>
                  <a:pt x="0" y="0"/>
                </a:moveTo>
                <a:lnTo>
                  <a:pt x="3233551" y="0"/>
                </a:lnTo>
                <a:lnTo>
                  <a:pt x="3296534" y="69271"/>
                </a:lnTo>
                <a:cubicBezTo>
                  <a:pt x="4007060" y="929100"/>
                  <a:pt x="4446529" y="2116944"/>
                  <a:pt x="4446529" y="3429000"/>
                </a:cubicBezTo>
                <a:cubicBezTo>
                  <a:pt x="4446529" y="4741056"/>
                  <a:pt x="4007060" y="5928900"/>
                  <a:pt x="3296534" y="6788730"/>
                </a:cubicBezTo>
                <a:lnTo>
                  <a:pt x="3233551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EDC31E-3AFA-A316-88D4-D8BA739DD46A}"/>
              </a:ext>
            </a:extLst>
          </p:cNvPr>
          <p:cNvSpPr txBox="1"/>
          <p:nvPr/>
        </p:nvSpPr>
        <p:spPr>
          <a:xfrm>
            <a:off x="371094" y="1161288"/>
            <a:ext cx="3438144" cy="12390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2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Comparison: AIA 131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98E79BE4-34FE-485A-98A5-92CE8F7C47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426546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7A5F0580-5EE9-419F-96EE-B6529EF6E7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5893" y="2443480"/>
            <a:ext cx="338328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B23E4F0-C209-91D6-6962-C5F8CD249E48}"/>
              </a:ext>
            </a:extLst>
          </p:cNvPr>
          <p:cNvSpPr txBox="1"/>
          <p:nvPr/>
        </p:nvSpPr>
        <p:spPr>
          <a:xfrm>
            <a:off x="371094" y="2718054"/>
            <a:ext cx="3438906" cy="320725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/>
              <a:t>Solid line: SSW calculated response, which used: </a:t>
            </a:r>
          </a:p>
          <a:p>
            <a:pPr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/>
              <a:t>Chianti v-9</a:t>
            </a:r>
          </a:p>
          <a:p>
            <a:pPr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/>
              <a:t>Feldman coronal abundance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EA15CC5-2B15-02B3-9943-E5F05F68AD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1184" y="1004675"/>
            <a:ext cx="6922008" cy="494923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B50A09B-A667-2C93-CAF7-7AFF4DA57E60}"/>
              </a:ext>
            </a:extLst>
          </p:cNvPr>
          <p:cNvSpPr txBox="1"/>
          <p:nvPr/>
        </p:nvSpPr>
        <p:spPr>
          <a:xfrm>
            <a:off x="368808" y="5910094"/>
            <a:ext cx="25496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Overall good agreement</a:t>
            </a:r>
          </a:p>
        </p:txBody>
      </p:sp>
    </p:spTree>
    <p:extLst>
      <p:ext uri="{BB962C8B-B14F-4D97-AF65-F5344CB8AC3E}">
        <p14:creationId xmlns:p14="http://schemas.microsoft.com/office/powerpoint/2010/main" val="39495809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9EBB04B-7DA6-8F0F-D881-262725C3F7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9" name="Rectangle 38">
            <a:extLst>
              <a:ext uri="{FF2B5EF4-FFF2-40B4-BE49-F238E27FC236}">
                <a16:creationId xmlns:a16="http://schemas.microsoft.com/office/drawing/2014/main" id="{0288C6B4-AFC3-407F-A595-EFFD38D4CC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41" name="Freeform: Shape 40">
            <a:extLst>
              <a:ext uri="{FF2B5EF4-FFF2-40B4-BE49-F238E27FC236}">
                <a16:creationId xmlns:a16="http://schemas.microsoft.com/office/drawing/2014/main" id="{CF236821-17FE-429B-8D2C-08E13A64EA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4455673" cy="6858000"/>
          </a:xfrm>
          <a:custGeom>
            <a:avLst/>
            <a:gdLst>
              <a:gd name="connsiteX0" fmla="*/ 0 w 4455673"/>
              <a:gd name="connsiteY0" fmla="*/ 0 h 6858000"/>
              <a:gd name="connsiteX1" fmla="*/ 3242695 w 4455673"/>
              <a:gd name="connsiteY1" fmla="*/ 0 h 6858000"/>
              <a:gd name="connsiteX2" fmla="*/ 3305678 w 4455673"/>
              <a:gd name="connsiteY2" fmla="*/ 69271 h 6858000"/>
              <a:gd name="connsiteX3" fmla="*/ 4455673 w 4455673"/>
              <a:gd name="connsiteY3" fmla="*/ 3429000 h 6858000"/>
              <a:gd name="connsiteX4" fmla="*/ 3305678 w 4455673"/>
              <a:gd name="connsiteY4" fmla="*/ 6788730 h 6858000"/>
              <a:gd name="connsiteX5" fmla="*/ 3242695 w 4455673"/>
              <a:gd name="connsiteY5" fmla="*/ 6858000 h 6858000"/>
              <a:gd name="connsiteX6" fmla="*/ 0 w 4455673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55673" h="6858000">
                <a:moveTo>
                  <a:pt x="0" y="0"/>
                </a:moveTo>
                <a:lnTo>
                  <a:pt x="3242695" y="0"/>
                </a:lnTo>
                <a:lnTo>
                  <a:pt x="3305678" y="69271"/>
                </a:lnTo>
                <a:cubicBezTo>
                  <a:pt x="4016204" y="929100"/>
                  <a:pt x="4455673" y="2116944"/>
                  <a:pt x="4455673" y="3429000"/>
                </a:cubicBezTo>
                <a:cubicBezTo>
                  <a:pt x="4455673" y="4741056"/>
                  <a:pt x="4016204" y="5928900"/>
                  <a:pt x="3305678" y="6788730"/>
                </a:cubicBezTo>
                <a:lnTo>
                  <a:pt x="3242695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43" name="Freeform: Shape 42">
            <a:extLst>
              <a:ext uri="{FF2B5EF4-FFF2-40B4-BE49-F238E27FC236}">
                <a16:creationId xmlns:a16="http://schemas.microsoft.com/office/drawing/2014/main" id="{C0BDBCD2-E081-43AB-9119-C55465E59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446529" cy="6858000"/>
          </a:xfrm>
          <a:custGeom>
            <a:avLst/>
            <a:gdLst>
              <a:gd name="connsiteX0" fmla="*/ 0 w 4446529"/>
              <a:gd name="connsiteY0" fmla="*/ 0 h 6858000"/>
              <a:gd name="connsiteX1" fmla="*/ 3233551 w 4446529"/>
              <a:gd name="connsiteY1" fmla="*/ 0 h 6858000"/>
              <a:gd name="connsiteX2" fmla="*/ 3296534 w 4446529"/>
              <a:gd name="connsiteY2" fmla="*/ 69271 h 6858000"/>
              <a:gd name="connsiteX3" fmla="*/ 4446529 w 4446529"/>
              <a:gd name="connsiteY3" fmla="*/ 3429000 h 6858000"/>
              <a:gd name="connsiteX4" fmla="*/ 3296534 w 4446529"/>
              <a:gd name="connsiteY4" fmla="*/ 6788730 h 6858000"/>
              <a:gd name="connsiteX5" fmla="*/ 3233551 w 4446529"/>
              <a:gd name="connsiteY5" fmla="*/ 6858000 h 6858000"/>
              <a:gd name="connsiteX6" fmla="*/ 0 w 444652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46529" h="6858000">
                <a:moveTo>
                  <a:pt x="0" y="0"/>
                </a:moveTo>
                <a:lnTo>
                  <a:pt x="3233551" y="0"/>
                </a:lnTo>
                <a:lnTo>
                  <a:pt x="3296534" y="69271"/>
                </a:lnTo>
                <a:cubicBezTo>
                  <a:pt x="4007060" y="929100"/>
                  <a:pt x="4446529" y="2116944"/>
                  <a:pt x="4446529" y="3429000"/>
                </a:cubicBezTo>
                <a:cubicBezTo>
                  <a:pt x="4446529" y="4741056"/>
                  <a:pt x="4007060" y="5928900"/>
                  <a:pt x="3296534" y="6788730"/>
                </a:cubicBezTo>
                <a:lnTo>
                  <a:pt x="3233551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281E32-1D7B-C45A-4C0D-0FB8B7119F9C}"/>
              </a:ext>
            </a:extLst>
          </p:cNvPr>
          <p:cNvSpPr txBox="1"/>
          <p:nvPr/>
        </p:nvSpPr>
        <p:spPr>
          <a:xfrm>
            <a:off x="371094" y="1161288"/>
            <a:ext cx="3438144" cy="12390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2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Comparison: AIA 171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8E79BE4-34FE-485A-98A5-92CE8F7C47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426546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7A5F0580-5EE9-419F-96EE-B6529EF6E7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5893" y="2443480"/>
            <a:ext cx="338328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42F9D1F-BD16-1F55-6259-6F884A88209A}"/>
              </a:ext>
            </a:extLst>
          </p:cNvPr>
          <p:cNvSpPr txBox="1"/>
          <p:nvPr/>
        </p:nvSpPr>
        <p:spPr>
          <a:xfrm>
            <a:off x="371094" y="2718054"/>
            <a:ext cx="3438906" cy="320725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/>
              <a:t>Solid line: SSW calculated response, which used: </a:t>
            </a:r>
          </a:p>
          <a:p>
            <a:pPr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/>
              <a:t>Chianti v-9</a:t>
            </a:r>
          </a:p>
          <a:p>
            <a:pPr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/>
              <a:t>Feldman coronal abundance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A0018A7-4CCB-82A8-08AA-1AECC0DD5F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1184" y="1004675"/>
            <a:ext cx="6922008" cy="494923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5816EF0-CADF-3D00-F844-2A2C47756716}"/>
              </a:ext>
            </a:extLst>
          </p:cNvPr>
          <p:cNvSpPr txBox="1"/>
          <p:nvPr/>
        </p:nvSpPr>
        <p:spPr>
          <a:xfrm>
            <a:off x="368808" y="5910094"/>
            <a:ext cx="25496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Overall good agreement</a:t>
            </a:r>
          </a:p>
        </p:txBody>
      </p:sp>
    </p:spTree>
    <p:extLst>
      <p:ext uri="{BB962C8B-B14F-4D97-AF65-F5344CB8AC3E}">
        <p14:creationId xmlns:p14="http://schemas.microsoft.com/office/powerpoint/2010/main" val="19700424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1C500B-D5DB-F802-9EF5-618B6D7F0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7" name="Rectangle 36">
            <a:extLst>
              <a:ext uri="{FF2B5EF4-FFF2-40B4-BE49-F238E27FC236}">
                <a16:creationId xmlns:a16="http://schemas.microsoft.com/office/drawing/2014/main" id="{0288C6B4-AFC3-407F-A595-EFFD38D4CC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9" name="Freeform: Shape 38">
            <a:extLst>
              <a:ext uri="{FF2B5EF4-FFF2-40B4-BE49-F238E27FC236}">
                <a16:creationId xmlns:a16="http://schemas.microsoft.com/office/drawing/2014/main" id="{CF236821-17FE-429B-8D2C-08E13A64EA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4455673" cy="6858000"/>
          </a:xfrm>
          <a:custGeom>
            <a:avLst/>
            <a:gdLst>
              <a:gd name="connsiteX0" fmla="*/ 0 w 4455673"/>
              <a:gd name="connsiteY0" fmla="*/ 0 h 6858000"/>
              <a:gd name="connsiteX1" fmla="*/ 3242695 w 4455673"/>
              <a:gd name="connsiteY1" fmla="*/ 0 h 6858000"/>
              <a:gd name="connsiteX2" fmla="*/ 3305678 w 4455673"/>
              <a:gd name="connsiteY2" fmla="*/ 69271 h 6858000"/>
              <a:gd name="connsiteX3" fmla="*/ 4455673 w 4455673"/>
              <a:gd name="connsiteY3" fmla="*/ 3429000 h 6858000"/>
              <a:gd name="connsiteX4" fmla="*/ 3305678 w 4455673"/>
              <a:gd name="connsiteY4" fmla="*/ 6788730 h 6858000"/>
              <a:gd name="connsiteX5" fmla="*/ 3242695 w 4455673"/>
              <a:gd name="connsiteY5" fmla="*/ 6858000 h 6858000"/>
              <a:gd name="connsiteX6" fmla="*/ 0 w 4455673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55673" h="6858000">
                <a:moveTo>
                  <a:pt x="0" y="0"/>
                </a:moveTo>
                <a:lnTo>
                  <a:pt x="3242695" y="0"/>
                </a:lnTo>
                <a:lnTo>
                  <a:pt x="3305678" y="69271"/>
                </a:lnTo>
                <a:cubicBezTo>
                  <a:pt x="4016204" y="929100"/>
                  <a:pt x="4455673" y="2116944"/>
                  <a:pt x="4455673" y="3429000"/>
                </a:cubicBezTo>
                <a:cubicBezTo>
                  <a:pt x="4455673" y="4741056"/>
                  <a:pt x="4016204" y="5928900"/>
                  <a:pt x="3305678" y="6788730"/>
                </a:cubicBezTo>
                <a:lnTo>
                  <a:pt x="3242695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41" name="Freeform: Shape 40">
            <a:extLst>
              <a:ext uri="{FF2B5EF4-FFF2-40B4-BE49-F238E27FC236}">
                <a16:creationId xmlns:a16="http://schemas.microsoft.com/office/drawing/2014/main" id="{C0BDBCD2-E081-43AB-9119-C55465E59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446529" cy="6858000"/>
          </a:xfrm>
          <a:custGeom>
            <a:avLst/>
            <a:gdLst>
              <a:gd name="connsiteX0" fmla="*/ 0 w 4446529"/>
              <a:gd name="connsiteY0" fmla="*/ 0 h 6858000"/>
              <a:gd name="connsiteX1" fmla="*/ 3233551 w 4446529"/>
              <a:gd name="connsiteY1" fmla="*/ 0 h 6858000"/>
              <a:gd name="connsiteX2" fmla="*/ 3296534 w 4446529"/>
              <a:gd name="connsiteY2" fmla="*/ 69271 h 6858000"/>
              <a:gd name="connsiteX3" fmla="*/ 4446529 w 4446529"/>
              <a:gd name="connsiteY3" fmla="*/ 3429000 h 6858000"/>
              <a:gd name="connsiteX4" fmla="*/ 3296534 w 4446529"/>
              <a:gd name="connsiteY4" fmla="*/ 6788730 h 6858000"/>
              <a:gd name="connsiteX5" fmla="*/ 3233551 w 4446529"/>
              <a:gd name="connsiteY5" fmla="*/ 6858000 h 6858000"/>
              <a:gd name="connsiteX6" fmla="*/ 0 w 444652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46529" h="6858000">
                <a:moveTo>
                  <a:pt x="0" y="0"/>
                </a:moveTo>
                <a:lnTo>
                  <a:pt x="3233551" y="0"/>
                </a:lnTo>
                <a:lnTo>
                  <a:pt x="3296534" y="69271"/>
                </a:lnTo>
                <a:cubicBezTo>
                  <a:pt x="4007060" y="929100"/>
                  <a:pt x="4446529" y="2116944"/>
                  <a:pt x="4446529" y="3429000"/>
                </a:cubicBezTo>
                <a:cubicBezTo>
                  <a:pt x="4446529" y="4741056"/>
                  <a:pt x="4007060" y="5928900"/>
                  <a:pt x="3296534" y="6788730"/>
                </a:cubicBezTo>
                <a:lnTo>
                  <a:pt x="3233551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8ED760-DD39-D8D3-1691-283F5C89207A}"/>
              </a:ext>
            </a:extLst>
          </p:cNvPr>
          <p:cNvSpPr txBox="1"/>
          <p:nvPr/>
        </p:nvSpPr>
        <p:spPr>
          <a:xfrm>
            <a:off x="371094" y="1161288"/>
            <a:ext cx="3438144" cy="12390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2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Comparison: AIA 193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98E79BE4-34FE-485A-98A5-92CE8F7C47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426546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7A5F0580-5EE9-419F-96EE-B6529EF6E7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5893" y="2443480"/>
            <a:ext cx="338328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3427B7B-54FF-073A-F1D6-C4FF4BCACE8F}"/>
              </a:ext>
            </a:extLst>
          </p:cNvPr>
          <p:cNvSpPr txBox="1"/>
          <p:nvPr/>
        </p:nvSpPr>
        <p:spPr>
          <a:xfrm>
            <a:off x="371094" y="2718054"/>
            <a:ext cx="3438906" cy="320725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/>
              <a:t>Solid line: SSW calculated response, which used: </a:t>
            </a:r>
          </a:p>
          <a:p>
            <a:pPr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/>
              <a:t>Chianti v-9</a:t>
            </a:r>
          </a:p>
          <a:p>
            <a:pPr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/>
              <a:t>Feldman coronal abundance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C531AD5-440A-0834-D8D1-7055B0E948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1184" y="1004675"/>
            <a:ext cx="6922008" cy="494923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F125B02-0508-C44D-3C4E-93D0F9E25769}"/>
              </a:ext>
            </a:extLst>
          </p:cNvPr>
          <p:cNvSpPr txBox="1"/>
          <p:nvPr/>
        </p:nvSpPr>
        <p:spPr>
          <a:xfrm>
            <a:off x="368808" y="5910094"/>
            <a:ext cx="25496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Overall good agreement</a:t>
            </a:r>
          </a:p>
        </p:txBody>
      </p:sp>
    </p:spTree>
    <p:extLst>
      <p:ext uri="{BB962C8B-B14F-4D97-AF65-F5344CB8AC3E}">
        <p14:creationId xmlns:p14="http://schemas.microsoft.com/office/powerpoint/2010/main" val="40007289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047E3DE-1BAE-DD89-91C4-638F1B4763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0288C6B4-AFC3-407F-A595-EFFD38D4CC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0" name="Freeform: Shape 29">
            <a:extLst>
              <a:ext uri="{FF2B5EF4-FFF2-40B4-BE49-F238E27FC236}">
                <a16:creationId xmlns:a16="http://schemas.microsoft.com/office/drawing/2014/main" id="{CF236821-17FE-429B-8D2C-08E13A64EA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4455673" cy="6858000"/>
          </a:xfrm>
          <a:custGeom>
            <a:avLst/>
            <a:gdLst>
              <a:gd name="connsiteX0" fmla="*/ 0 w 4455673"/>
              <a:gd name="connsiteY0" fmla="*/ 0 h 6858000"/>
              <a:gd name="connsiteX1" fmla="*/ 3242695 w 4455673"/>
              <a:gd name="connsiteY1" fmla="*/ 0 h 6858000"/>
              <a:gd name="connsiteX2" fmla="*/ 3305678 w 4455673"/>
              <a:gd name="connsiteY2" fmla="*/ 69271 h 6858000"/>
              <a:gd name="connsiteX3" fmla="*/ 4455673 w 4455673"/>
              <a:gd name="connsiteY3" fmla="*/ 3429000 h 6858000"/>
              <a:gd name="connsiteX4" fmla="*/ 3305678 w 4455673"/>
              <a:gd name="connsiteY4" fmla="*/ 6788730 h 6858000"/>
              <a:gd name="connsiteX5" fmla="*/ 3242695 w 4455673"/>
              <a:gd name="connsiteY5" fmla="*/ 6858000 h 6858000"/>
              <a:gd name="connsiteX6" fmla="*/ 0 w 4455673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55673" h="6858000">
                <a:moveTo>
                  <a:pt x="0" y="0"/>
                </a:moveTo>
                <a:lnTo>
                  <a:pt x="3242695" y="0"/>
                </a:lnTo>
                <a:lnTo>
                  <a:pt x="3305678" y="69271"/>
                </a:lnTo>
                <a:cubicBezTo>
                  <a:pt x="4016204" y="929100"/>
                  <a:pt x="4455673" y="2116944"/>
                  <a:pt x="4455673" y="3429000"/>
                </a:cubicBezTo>
                <a:cubicBezTo>
                  <a:pt x="4455673" y="4741056"/>
                  <a:pt x="4016204" y="5928900"/>
                  <a:pt x="3305678" y="6788730"/>
                </a:cubicBezTo>
                <a:lnTo>
                  <a:pt x="3242695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32" name="Freeform: Shape 31">
            <a:extLst>
              <a:ext uri="{FF2B5EF4-FFF2-40B4-BE49-F238E27FC236}">
                <a16:creationId xmlns:a16="http://schemas.microsoft.com/office/drawing/2014/main" id="{C0BDBCD2-E081-43AB-9119-C55465E59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446529" cy="6858000"/>
          </a:xfrm>
          <a:custGeom>
            <a:avLst/>
            <a:gdLst>
              <a:gd name="connsiteX0" fmla="*/ 0 w 4446529"/>
              <a:gd name="connsiteY0" fmla="*/ 0 h 6858000"/>
              <a:gd name="connsiteX1" fmla="*/ 3233551 w 4446529"/>
              <a:gd name="connsiteY1" fmla="*/ 0 h 6858000"/>
              <a:gd name="connsiteX2" fmla="*/ 3296534 w 4446529"/>
              <a:gd name="connsiteY2" fmla="*/ 69271 h 6858000"/>
              <a:gd name="connsiteX3" fmla="*/ 4446529 w 4446529"/>
              <a:gd name="connsiteY3" fmla="*/ 3429000 h 6858000"/>
              <a:gd name="connsiteX4" fmla="*/ 3296534 w 4446529"/>
              <a:gd name="connsiteY4" fmla="*/ 6788730 h 6858000"/>
              <a:gd name="connsiteX5" fmla="*/ 3233551 w 4446529"/>
              <a:gd name="connsiteY5" fmla="*/ 6858000 h 6858000"/>
              <a:gd name="connsiteX6" fmla="*/ 0 w 444652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46529" h="6858000">
                <a:moveTo>
                  <a:pt x="0" y="0"/>
                </a:moveTo>
                <a:lnTo>
                  <a:pt x="3233551" y="0"/>
                </a:lnTo>
                <a:lnTo>
                  <a:pt x="3296534" y="69271"/>
                </a:lnTo>
                <a:cubicBezTo>
                  <a:pt x="4007060" y="929100"/>
                  <a:pt x="4446529" y="2116944"/>
                  <a:pt x="4446529" y="3429000"/>
                </a:cubicBezTo>
                <a:cubicBezTo>
                  <a:pt x="4446529" y="4741056"/>
                  <a:pt x="4007060" y="5928900"/>
                  <a:pt x="3296534" y="6788730"/>
                </a:cubicBezTo>
                <a:lnTo>
                  <a:pt x="3233551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958A3D-7AD9-A1CB-07E3-F90B5E5D341A}"/>
              </a:ext>
            </a:extLst>
          </p:cNvPr>
          <p:cNvSpPr txBox="1"/>
          <p:nvPr/>
        </p:nvSpPr>
        <p:spPr>
          <a:xfrm>
            <a:off x="371094" y="1161288"/>
            <a:ext cx="3438144" cy="12390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2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Comparison: AIA 211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8E79BE4-34FE-485A-98A5-92CE8F7C47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426546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A5F0580-5EE9-419F-96EE-B6529EF6E7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5893" y="2443480"/>
            <a:ext cx="338328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BA5D557-FA23-7D34-7A47-D69858C64695}"/>
              </a:ext>
            </a:extLst>
          </p:cNvPr>
          <p:cNvSpPr txBox="1"/>
          <p:nvPr/>
        </p:nvSpPr>
        <p:spPr>
          <a:xfrm>
            <a:off x="371094" y="2718054"/>
            <a:ext cx="3438906" cy="320725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/>
              <a:t>Solid line: SSW calculated response, which used: </a:t>
            </a:r>
          </a:p>
          <a:p>
            <a:pPr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/>
              <a:t>Chianti v-9</a:t>
            </a:r>
          </a:p>
          <a:p>
            <a:pPr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/>
              <a:t>Feldman coronal abundance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817E333-8529-8209-2033-9FACA069BE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1184" y="1004675"/>
            <a:ext cx="6922008" cy="494923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90B403E-4D79-BC6E-57B2-4D32411A06AB}"/>
              </a:ext>
            </a:extLst>
          </p:cNvPr>
          <p:cNvSpPr txBox="1"/>
          <p:nvPr/>
        </p:nvSpPr>
        <p:spPr>
          <a:xfrm>
            <a:off x="368808" y="5910094"/>
            <a:ext cx="25496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Overall good agreement</a:t>
            </a:r>
          </a:p>
        </p:txBody>
      </p:sp>
    </p:spTree>
    <p:extLst>
      <p:ext uri="{BB962C8B-B14F-4D97-AF65-F5344CB8AC3E}">
        <p14:creationId xmlns:p14="http://schemas.microsoft.com/office/powerpoint/2010/main" val="33603876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5FD5089-CE15-9A9D-9481-06EA52F00E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0288C6B4-AFC3-407F-A595-EFFD38D4CC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7" name="Freeform: Shape 26">
            <a:extLst>
              <a:ext uri="{FF2B5EF4-FFF2-40B4-BE49-F238E27FC236}">
                <a16:creationId xmlns:a16="http://schemas.microsoft.com/office/drawing/2014/main" id="{CF236821-17FE-429B-8D2C-08E13A64EA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4455673" cy="6858000"/>
          </a:xfrm>
          <a:custGeom>
            <a:avLst/>
            <a:gdLst>
              <a:gd name="connsiteX0" fmla="*/ 0 w 4455673"/>
              <a:gd name="connsiteY0" fmla="*/ 0 h 6858000"/>
              <a:gd name="connsiteX1" fmla="*/ 3242695 w 4455673"/>
              <a:gd name="connsiteY1" fmla="*/ 0 h 6858000"/>
              <a:gd name="connsiteX2" fmla="*/ 3305678 w 4455673"/>
              <a:gd name="connsiteY2" fmla="*/ 69271 h 6858000"/>
              <a:gd name="connsiteX3" fmla="*/ 4455673 w 4455673"/>
              <a:gd name="connsiteY3" fmla="*/ 3429000 h 6858000"/>
              <a:gd name="connsiteX4" fmla="*/ 3305678 w 4455673"/>
              <a:gd name="connsiteY4" fmla="*/ 6788730 h 6858000"/>
              <a:gd name="connsiteX5" fmla="*/ 3242695 w 4455673"/>
              <a:gd name="connsiteY5" fmla="*/ 6858000 h 6858000"/>
              <a:gd name="connsiteX6" fmla="*/ 0 w 4455673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55673" h="6858000">
                <a:moveTo>
                  <a:pt x="0" y="0"/>
                </a:moveTo>
                <a:lnTo>
                  <a:pt x="3242695" y="0"/>
                </a:lnTo>
                <a:lnTo>
                  <a:pt x="3305678" y="69271"/>
                </a:lnTo>
                <a:cubicBezTo>
                  <a:pt x="4016204" y="929100"/>
                  <a:pt x="4455673" y="2116944"/>
                  <a:pt x="4455673" y="3429000"/>
                </a:cubicBezTo>
                <a:cubicBezTo>
                  <a:pt x="4455673" y="4741056"/>
                  <a:pt x="4016204" y="5928900"/>
                  <a:pt x="3305678" y="6788730"/>
                </a:cubicBezTo>
                <a:lnTo>
                  <a:pt x="3242695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29" name="Freeform: Shape 28">
            <a:extLst>
              <a:ext uri="{FF2B5EF4-FFF2-40B4-BE49-F238E27FC236}">
                <a16:creationId xmlns:a16="http://schemas.microsoft.com/office/drawing/2014/main" id="{C0BDBCD2-E081-43AB-9119-C55465E59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446529" cy="6858000"/>
          </a:xfrm>
          <a:custGeom>
            <a:avLst/>
            <a:gdLst>
              <a:gd name="connsiteX0" fmla="*/ 0 w 4446529"/>
              <a:gd name="connsiteY0" fmla="*/ 0 h 6858000"/>
              <a:gd name="connsiteX1" fmla="*/ 3233551 w 4446529"/>
              <a:gd name="connsiteY1" fmla="*/ 0 h 6858000"/>
              <a:gd name="connsiteX2" fmla="*/ 3296534 w 4446529"/>
              <a:gd name="connsiteY2" fmla="*/ 69271 h 6858000"/>
              <a:gd name="connsiteX3" fmla="*/ 4446529 w 4446529"/>
              <a:gd name="connsiteY3" fmla="*/ 3429000 h 6858000"/>
              <a:gd name="connsiteX4" fmla="*/ 3296534 w 4446529"/>
              <a:gd name="connsiteY4" fmla="*/ 6788730 h 6858000"/>
              <a:gd name="connsiteX5" fmla="*/ 3233551 w 4446529"/>
              <a:gd name="connsiteY5" fmla="*/ 6858000 h 6858000"/>
              <a:gd name="connsiteX6" fmla="*/ 0 w 444652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46529" h="6858000">
                <a:moveTo>
                  <a:pt x="0" y="0"/>
                </a:moveTo>
                <a:lnTo>
                  <a:pt x="3233551" y="0"/>
                </a:lnTo>
                <a:lnTo>
                  <a:pt x="3296534" y="69271"/>
                </a:lnTo>
                <a:cubicBezTo>
                  <a:pt x="4007060" y="929100"/>
                  <a:pt x="4446529" y="2116944"/>
                  <a:pt x="4446529" y="3429000"/>
                </a:cubicBezTo>
                <a:cubicBezTo>
                  <a:pt x="4446529" y="4741056"/>
                  <a:pt x="4007060" y="5928900"/>
                  <a:pt x="3296534" y="6788730"/>
                </a:cubicBezTo>
                <a:lnTo>
                  <a:pt x="3233551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A056F64-B8E5-E8F1-8A03-3D9B0D91EAC6}"/>
              </a:ext>
            </a:extLst>
          </p:cNvPr>
          <p:cNvSpPr txBox="1"/>
          <p:nvPr/>
        </p:nvSpPr>
        <p:spPr>
          <a:xfrm>
            <a:off x="371094" y="1161288"/>
            <a:ext cx="3438144" cy="12390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2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Comparison: AIA 304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8E79BE4-34FE-485A-98A5-92CE8F7C47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426546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A5F0580-5EE9-419F-96EE-B6529EF6E7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5893" y="2443480"/>
            <a:ext cx="338328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078D77-53F5-5060-0835-721F0633FA09}"/>
              </a:ext>
            </a:extLst>
          </p:cNvPr>
          <p:cNvSpPr txBox="1"/>
          <p:nvPr/>
        </p:nvSpPr>
        <p:spPr>
          <a:xfrm>
            <a:off x="371094" y="2718054"/>
            <a:ext cx="3438906" cy="320725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/>
              <a:t>Solid line: SSW calculated response, which used: </a:t>
            </a:r>
          </a:p>
          <a:p>
            <a:pPr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/>
              <a:t>Chianti v-9</a:t>
            </a:r>
          </a:p>
          <a:p>
            <a:pPr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/>
              <a:t>Feldman coronal abundance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572C0C6-85CA-E676-2F29-3EB675B349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1184" y="1004675"/>
            <a:ext cx="6922008" cy="494923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71042DC-A2FC-CFDB-91E5-E99B1F62622E}"/>
              </a:ext>
            </a:extLst>
          </p:cNvPr>
          <p:cNvSpPr txBox="1"/>
          <p:nvPr/>
        </p:nvSpPr>
        <p:spPr>
          <a:xfrm>
            <a:off x="439628" y="5696712"/>
            <a:ext cx="512723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This passband show significant deviation.</a:t>
            </a:r>
          </a:p>
          <a:p>
            <a:r>
              <a:rPr lang="en-US" b="1" dirty="0"/>
              <a:t>- Change of atomic data in new Chianti version?</a:t>
            </a:r>
          </a:p>
        </p:txBody>
      </p:sp>
    </p:spTree>
    <p:extLst>
      <p:ext uri="{BB962C8B-B14F-4D97-AF65-F5344CB8AC3E}">
        <p14:creationId xmlns:p14="http://schemas.microsoft.com/office/powerpoint/2010/main" val="40064181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9A5235-4EEC-4CE6-0A7F-B0DDE7532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0288C6B4-AFC3-407F-A595-EFFD38D4CC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8" name="Freeform: Shape 27">
            <a:extLst>
              <a:ext uri="{FF2B5EF4-FFF2-40B4-BE49-F238E27FC236}">
                <a16:creationId xmlns:a16="http://schemas.microsoft.com/office/drawing/2014/main" id="{CF236821-17FE-429B-8D2C-08E13A64EA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4455673" cy="6858000"/>
          </a:xfrm>
          <a:custGeom>
            <a:avLst/>
            <a:gdLst>
              <a:gd name="connsiteX0" fmla="*/ 0 w 4455673"/>
              <a:gd name="connsiteY0" fmla="*/ 0 h 6858000"/>
              <a:gd name="connsiteX1" fmla="*/ 3242695 w 4455673"/>
              <a:gd name="connsiteY1" fmla="*/ 0 h 6858000"/>
              <a:gd name="connsiteX2" fmla="*/ 3305678 w 4455673"/>
              <a:gd name="connsiteY2" fmla="*/ 69271 h 6858000"/>
              <a:gd name="connsiteX3" fmla="*/ 4455673 w 4455673"/>
              <a:gd name="connsiteY3" fmla="*/ 3429000 h 6858000"/>
              <a:gd name="connsiteX4" fmla="*/ 3305678 w 4455673"/>
              <a:gd name="connsiteY4" fmla="*/ 6788730 h 6858000"/>
              <a:gd name="connsiteX5" fmla="*/ 3242695 w 4455673"/>
              <a:gd name="connsiteY5" fmla="*/ 6858000 h 6858000"/>
              <a:gd name="connsiteX6" fmla="*/ 0 w 4455673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55673" h="6858000">
                <a:moveTo>
                  <a:pt x="0" y="0"/>
                </a:moveTo>
                <a:lnTo>
                  <a:pt x="3242695" y="0"/>
                </a:lnTo>
                <a:lnTo>
                  <a:pt x="3305678" y="69271"/>
                </a:lnTo>
                <a:cubicBezTo>
                  <a:pt x="4016204" y="929100"/>
                  <a:pt x="4455673" y="2116944"/>
                  <a:pt x="4455673" y="3429000"/>
                </a:cubicBezTo>
                <a:cubicBezTo>
                  <a:pt x="4455673" y="4741056"/>
                  <a:pt x="4016204" y="5928900"/>
                  <a:pt x="3305678" y="6788730"/>
                </a:cubicBezTo>
                <a:lnTo>
                  <a:pt x="3242695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30" name="Freeform: Shape 29">
            <a:extLst>
              <a:ext uri="{FF2B5EF4-FFF2-40B4-BE49-F238E27FC236}">
                <a16:creationId xmlns:a16="http://schemas.microsoft.com/office/drawing/2014/main" id="{C0BDBCD2-E081-43AB-9119-C55465E59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446529" cy="6858000"/>
          </a:xfrm>
          <a:custGeom>
            <a:avLst/>
            <a:gdLst>
              <a:gd name="connsiteX0" fmla="*/ 0 w 4446529"/>
              <a:gd name="connsiteY0" fmla="*/ 0 h 6858000"/>
              <a:gd name="connsiteX1" fmla="*/ 3233551 w 4446529"/>
              <a:gd name="connsiteY1" fmla="*/ 0 h 6858000"/>
              <a:gd name="connsiteX2" fmla="*/ 3296534 w 4446529"/>
              <a:gd name="connsiteY2" fmla="*/ 69271 h 6858000"/>
              <a:gd name="connsiteX3" fmla="*/ 4446529 w 4446529"/>
              <a:gd name="connsiteY3" fmla="*/ 3429000 h 6858000"/>
              <a:gd name="connsiteX4" fmla="*/ 3296534 w 4446529"/>
              <a:gd name="connsiteY4" fmla="*/ 6788730 h 6858000"/>
              <a:gd name="connsiteX5" fmla="*/ 3233551 w 4446529"/>
              <a:gd name="connsiteY5" fmla="*/ 6858000 h 6858000"/>
              <a:gd name="connsiteX6" fmla="*/ 0 w 444652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46529" h="6858000">
                <a:moveTo>
                  <a:pt x="0" y="0"/>
                </a:moveTo>
                <a:lnTo>
                  <a:pt x="3233551" y="0"/>
                </a:lnTo>
                <a:lnTo>
                  <a:pt x="3296534" y="69271"/>
                </a:lnTo>
                <a:cubicBezTo>
                  <a:pt x="4007060" y="929100"/>
                  <a:pt x="4446529" y="2116944"/>
                  <a:pt x="4446529" y="3429000"/>
                </a:cubicBezTo>
                <a:cubicBezTo>
                  <a:pt x="4446529" y="4741056"/>
                  <a:pt x="4007060" y="5928900"/>
                  <a:pt x="3296534" y="6788730"/>
                </a:cubicBezTo>
                <a:lnTo>
                  <a:pt x="3233551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EA36C7-86A6-0508-8956-9248645BDAD3}"/>
              </a:ext>
            </a:extLst>
          </p:cNvPr>
          <p:cNvSpPr txBox="1"/>
          <p:nvPr/>
        </p:nvSpPr>
        <p:spPr>
          <a:xfrm>
            <a:off x="371094" y="1161288"/>
            <a:ext cx="3438144" cy="12390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2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Comparison: AIA 335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8E79BE4-34FE-485A-98A5-92CE8F7C47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426546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A5F0580-5EE9-419F-96EE-B6529EF6E7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5893" y="2443480"/>
            <a:ext cx="338328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23D487D-2A8D-A85F-7DEC-FF127A83D5F6}"/>
              </a:ext>
            </a:extLst>
          </p:cNvPr>
          <p:cNvSpPr txBox="1"/>
          <p:nvPr/>
        </p:nvSpPr>
        <p:spPr>
          <a:xfrm>
            <a:off x="371094" y="2718054"/>
            <a:ext cx="3438906" cy="320725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/>
              <a:t>Solid line: SSW calculated response, which used: </a:t>
            </a:r>
          </a:p>
          <a:p>
            <a:pPr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/>
              <a:t>Chianti v-9</a:t>
            </a:r>
          </a:p>
          <a:p>
            <a:pPr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/>
              <a:t>Feldman coronal abundance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2B3C454-C393-6C18-BC0D-08169FC613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1184" y="1004675"/>
            <a:ext cx="6922008" cy="494923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1E05E28-6183-8B23-4E92-E8D4A9456DDA}"/>
              </a:ext>
            </a:extLst>
          </p:cNvPr>
          <p:cNvSpPr txBox="1"/>
          <p:nvPr/>
        </p:nvSpPr>
        <p:spPr>
          <a:xfrm>
            <a:off x="368808" y="5910094"/>
            <a:ext cx="25496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Overall good agreement</a:t>
            </a:r>
          </a:p>
        </p:txBody>
      </p:sp>
    </p:spTree>
    <p:extLst>
      <p:ext uri="{BB962C8B-B14F-4D97-AF65-F5344CB8AC3E}">
        <p14:creationId xmlns:p14="http://schemas.microsoft.com/office/powerpoint/2010/main" val="27017196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</TotalTime>
  <Words>290</Words>
  <Application>Microsoft Macintosh PowerPoint</Application>
  <PresentationFormat>Widescreen</PresentationFormat>
  <Paragraphs>52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Aptos</vt:lpstr>
      <vt:lpstr>Aptos Display</vt:lpstr>
      <vt:lpstr>Arial</vt:lpstr>
      <vt:lpstr>Calibri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Mondal, Biswajit (MSFC-ST12)[UAH]</dc:creator>
  <cp:lastModifiedBy>Mondal, Biswajit (MSFC-ST12)[UAH]</cp:lastModifiedBy>
  <cp:revision>2</cp:revision>
  <dcterms:created xsi:type="dcterms:W3CDTF">2026-10-12T20:46:59Z</dcterms:created>
  <dcterms:modified xsi:type="dcterms:W3CDTF">2026-10-15T00:39:36Z</dcterms:modified>
</cp:coreProperties>
</file>